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افتتاحية: نقترح تأسيس أسرة طلابية للاستدامة تقودها الطالبات والطلاب بإشراف عضو هيئة تدريس.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الأرقام من إعلان الجامعة على لينكدإن عن تصنيف 2026. اربطي الفكرة بأن مساهمة المعهد ترفع نقاط الجامعة.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5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926080"/>
            <a:ext cx="3840480" cy="3840480"/>
          </a:xfrm>
          <a:prstGeom prst="ellipse">
            <a:avLst/>
          </a:prstGeom>
          <a:solidFill>
            <a:srgbClr val="143D27"/>
          </a:solidFill>
          <a:ln w="12700">
            <a:solidFill>
              <a:srgbClr val="143D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1887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أسرة الاستدامة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CF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المعهد الهندسي: نحو معهد منخفض البصمة الكربونية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مقترح تأسيس بالتعاون مع اتحاد الطلبة  |  استعدادًا لتصنيف UI GreenMetric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الآن؟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5A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جامعة طنطا في UI GreenMetric 2026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0" y="169164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18288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0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589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2788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23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عالميًا من بين 2016 مؤسسة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69164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91840" y="18288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0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788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23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إفريقيًا من بين 127 جامعة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8288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0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2788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23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محليًا من بين 47 جامعة مصرية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معهد يضيف نقاطًا للجامعة. معهدنا الهندسي قادر على أن يكون نموذجًا يُحتذى.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أهداف السنة الأولى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720840" y="1371600"/>
            <a:ext cx="1965960" cy="2377440"/>
          </a:xfrm>
          <a:prstGeom prst="roundRect">
            <a:avLst>
              <a:gd name="adj" fmla="val 5581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720840" y="155448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0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26974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23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خفض النفايات المتجهة للمقالب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17720" y="1371600"/>
            <a:ext cx="1965960" cy="2377440"/>
          </a:xfrm>
          <a:prstGeom prst="roundRect">
            <a:avLst>
              <a:gd name="adj" fmla="val 5581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17720" y="155448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0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50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26974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23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خفض استهلاك الورق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514600" y="1371600"/>
            <a:ext cx="1965960" cy="2377440"/>
          </a:xfrm>
          <a:prstGeom prst="roundRect">
            <a:avLst>
              <a:gd name="adj" fmla="val 5581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14600" y="155448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0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50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26974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23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إضاءة LED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11480" y="1371600"/>
            <a:ext cx="1965960" cy="2377440"/>
          </a:xfrm>
          <a:prstGeom prst="roundRect">
            <a:avLst>
              <a:gd name="adj" fmla="val 5581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" y="155448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0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5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6974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23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فعاليات توعوية على الأقل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ويكتمل بملف أدلة جاهز لمحاور GreenMetric الستة.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هيكل الأسرة ولجانها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5A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المشرفة + رئيس + نائب + أمين سر + أمين صندوق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720840" y="164592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12280" y="18288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النفايات والتدوير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12280" y="23317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23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فرز وقياس وشراكات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17720" y="164592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09160" y="18288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الطاقة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23317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23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تدقيق وترشيد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14600" y="164592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06040" y="18288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المياه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23317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23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رصد تسريبات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164592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18288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المواصلات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23317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23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مشاركة ودراجات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720840" y="320040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12280" y="33832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المساحات الخضراء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3886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23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زراعة وكومبوست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17720" y="320040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09160" y="33832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الإعلام والتوثيق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709160" y="3886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23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أدلة وصور وصفحة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514600" y="320040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606040" y="33832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البحث والتعليم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2606040" y="3886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23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مشروعات تخرج وورش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يفعل الطلبة؟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35040" y="132588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0" y="1508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يقيسون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217920" y="20574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23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وزن النفايات وفواتير الكهرباء والمياه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46120" y="132588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508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يفرزون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20574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23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حاويات للورق والبلاستيك والمعادن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508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يبتكرون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0574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23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مشروعات تخرج: طاقة شمسية وتحكم ذكي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35040" y="301752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3200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يوعّون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37490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23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حملات وورش ومسابقة ابتكار أخضر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46120" y="301752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29000" y="3200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يوثّقون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37490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23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صور ومحاضر وتقارير لملف الأدلة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200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يتابعون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7490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23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مؤشرات شهرية للنتائج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5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أكبر تحدٍّ: النفايات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720840" y="1463040"/>
            <a:ext cx="1965960" cy="2651760"/>
          </a:xfrm>
          <a:prstGeom prst="roundRect">
            <a:avLst>
              <a:gd name="adj" fmla="val 5581"/>
            </a:avLst>
          </a:prstGeom>
          <a:solidFill>
            <a:srgbClr val="143D27"/>
          </a:solidFill>
          <a:ln w="12700">
            <a:solidFill>
              <a:srgbClr val="143D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29500" y="1645920"/>
            <a:ext cx="548640" cy="54864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2950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43D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12280" y="2377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قياس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858000" y="292608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CF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وزن أسبوع كامل لكل مبنى وورشة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17720" y="1463040"/>
            <a:ext cx="1965960" cy="2651760"/>
          </a:xfrm>
          <a:prstGeom prst="roundRect">
            <a:avLst>
              <a:gd name="adj" fmla="val 5581"/>
            </a:avLst>
          </a:prstGeom>
          <a:solidFill>
            <a:srgbClr val="143D27"/>
          </a:solidFill>
          <a:ln w="12700">
            <a:solidFill>
              <a:srgbClr val="143D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26380" y="1645920"/>
            <a:ext cx="548640" cy="54864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2638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43D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2377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فرز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92608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CF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المصدر: 3 حاويات ملونة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514600" y="1463040"/>
            <a:ext cx="1965960" cy="2651760"/>
          </a:xfrm>
          <a:prstGeom prst="roundRect">
            <a:avLst>
              <a:gd name="adj" fmla="val 5581"/>
            </a:avLst>
          </a:prstGeom>
          <a:solidFill>
            <a:srgbClr val="143D27"/>
          </a:solidFill>
          <a:ln w="12700">
            <a:solidFill>
              <a:srgbClr val="143D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23260" y="1645920"/>
            <a:ext cx="548640" cy="54864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2326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43D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2606040" y="2377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تدوير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2651760" y="292608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CF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بروتوكول مع جهة معتمدة للخردة والإلكترونيات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1480" y="1463040"/>
            <a:ext cx="1965960" cy="2651760"/>
          </a:xfrm>
          <a:prstGeom prst="roundRect">
            <a:avLst>
              <a:gd name="adj" fmla="val 5581"/>
            </a:avLst>
          </a:prstGeom>
          <a:solidFill>
            <a:srgbClr val="143D27"/>
          </a:solidFill>
          <a:ln w="12700">
            <a:solidFill>
              <a:srgbClr val="143D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20140" y="1645920"/>
            <a:ext cx="548640" cy="54864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201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43D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2377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متابعة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292608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CF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مسؤول لكل مبنى وتقرير شهري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خصوصية الهندسة: خردة الورش، والزيوت، والكابلات، وبقايا الطباعة ثلاثية الأبعاد.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خطة 12 شهرًا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920240"/>
            <a:ext cx="7863840" cy="0"/>
          </a:xfrm>
          <a:prstGeom prst="line">
            <a:avLst/>
          </a:prstGeom>
          <a:noFill/>
          <a:ln w="38100">
            <a:solidFill>
              <a:srgbClr val="D9A4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1783080"/>
            <a:ext cx="274320" cy="274320"/>
          </a:xfrm>
          <a:prstGeom prst="ellipse">
            <a:avLst/>
          </a:prstGeom>
          <a:solidFill>
            <a:srgbClr val="1F5C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0" y="1280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5A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الشهر 1–3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766560" y="2331720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0" y="2468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التأسيس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76288" y="3017520"/>
            <a:ext cx="1700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23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اللجان وخط الأساس وحاويات الفرز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0" y="1783080"/>
            <a:ext cx="274320" cy="274320"/>
          </a:xfrm>
          <a:prstGeom prst="ellipse">
            <a:avLst/>
          </a:prstGeom>
          <a:solidFill>
            <a:srgbClr val="1F5C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280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5A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الشهر 4–6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2331720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2468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التنفيذ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773168" y="3017520"/>
            <a:ext cx="1700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23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تدقيق الطاقة، LED، ترشيد المياه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83280" y="1783080"/>
            <a:ext cx="274320" cy="274320"/>
          </a:xfrm>
          <a:prstGeom prst="ellipse">
            <a:avLst/>
          </a:prstGeom>
          <a:solidFill>
            <a:srgbClr val="1F5C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560320" y="1280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5A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الشهر 7–9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560320" y="2331720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651760" y="2468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التوسع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2670048" y="3017520"/>
            <a:ext cx="1700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23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الورش والمعامل، بروتوكول التدوير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280160" y="1783080"/>
            <a:ext cx="274320" cy="274320"/>
          </a:xfrm>
          <a:prstGeom prst="ellipse">
            <a:avLst/>
          </a:prstGeom>
          <a:solidFill>
            <a:srgbClr val="1F5C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1280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5A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الشهر 10–12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2331720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2468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F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الأدلة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3017520"/>
            <a:ext cx="1700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233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ملف GreenMetric وتقرير سنوي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5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المطلوب منكم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475488"/>
          </a:xfrm>
          <a:prstGeom prst="roundRect">
            <a:avLst>
              <a:gd name="adj" fmla="val 23077"/>
            </a:avLst>
          </a:prstGeom>
          <a:solidFill>
            <a:srgbClr val="143D27"/>
          </a:solidFill>
          <a:ln w="12700">
            <a:solidFill>
              <a:srgbClr val="143D2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موافقة العميد على تأسيس الأسرة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938528"/>
            <a:ext cx="8229600" cy="475488"/>
          </a:xfrm>
          <a:prstGeom prst="roundRect">
            <a:avLst>
              <a:gd name="adj" fmla="val 23077"/>
            </a:avLst>
          </a:prstGeom>
          <a:solidFill>
            <a:srgbClr val="143D27"/>
          </a:solidFill>
          <a:ln w="12700">
            <a:solidFill>
              <a:srgbClr val="143D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93852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دعم اتحاد الطلبة وفتح باب العضوية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505456"/>
            <a:ext cx="8229600" cy="475488"/>
          </a:xfrm>
          <a:prstGeom prst="roundRect">
            <a:avLst>
              <a:gd name="adj" fmla="val 23077"/>
            </a:avLst>
          </a:prstGeom>
          <a:solidFill>
            <a:srgbClr val="143D27"/>
          </a:solidFill>
          <a:ln w="12700">
            <a:solidFill>
              <a:srgbClr val="143D2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5054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التنسيق مع الصيانة والنظافة والمشتريات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072384"/>
            <a:ext cx="8229600" cy="475488"/>
          </a:xfrm>
          <a:prstGeom prst="roundRect">
            <a:avLst>
              <a:gd name="adj" fmla="val 23077"/>
            </a:avLst>
          </a:prstGeom>
          <a:solidFill>
            <a:srgbClr val="143D27"/>
          </a:solidFill>
          <a:ln w="12700">
            <a:solidFill>
              <a:srgbClr val="143D2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072384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تخصيص أماكن لحاويات الفرز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3639312"/>
            <a:ext cx="8229600" cy="475488"/>
          </a:xfrm>
          <a:prstGeom prst="roundRect">
            <a:avLst>
              <a:gd name="adj" fmla="val 23077"/>
            </a:avLst>
          </a:prstGeom>
          <a:solidFill>
            <a:srgbClr val="143D27"/>
          </a:solidFill>
          <a:ln w="12700">
            <a:solidFill>
              <a:srgbClr val="143D2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63931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التنسيق مع مكتب الاستدامة بجامعة طنطا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دور المشرفة: الاعتماد والتوجيه العلمي ومراجعة جودة الأدلة وتدريب الدفعات الجديدة.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2026-10-07T17:25:06Z</dcterms:created>
  <dcterms:modified xsi:type="dcterms:W3CDTF">2026-10-07T17:25:06Z</dcterms:modified>
</cp:coreProperties>
</file>