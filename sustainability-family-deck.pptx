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افتتاحية: نقترح تأسيس أسرة طلابية للاستدامة تقودها الطالبات والطلاب بإشراف عضو هيئة تدريس.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الأرقام من إعلان رسمي لإحدى الجامعات المصرية عن نسخة 2026 (2016 مؤسسة من 110 دولة، و47 جامعة مصرية). راجعي موقع UI GreenMetric للأرقام المحدثة.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5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2926080"/>
            <a:ext cx="3840480" cy="3840480"/>
          </a:xfrm>
          <a:prstGeom prst="ellipse">
            <a:avLst/>
          </a:prstGeom>
          <a:solidFill>
            <a:srgbClr val="143D27"/>
          </a:solidFill>
          <a:ln w="12700">
            <a:solidFill>
              <a:srgbClr val="143D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18872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أسرة الاستدامة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400" dirty="0">
                <a:solidFill>
                  <a:srgbClr val="CF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معهد الدلتا العالي للهندسة والتكنولوجيا  |  نحو معهد منخفض البصمة الكربونية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مقترح تأسيس بالتعاون مع اتحاد الطلبة  |  استعدادًا لتصنيف UI GreenMetric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لماذا الآن؟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5A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التصنيف العالمي للاستدامة UI GreenMetric 2026: حجم المنافسة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126480" y="1691640"/>
            <a:ext cx="2560320" cy="1828800"/>
          </a:xfrm>
          <a:prstGeom prst="roundRect">
            <a:avLst>
              <a:gd name="adj" fmla="val 6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18288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6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مؤسسة تعليمية مصنَّفة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1691640"/>
            <a:ext cx="2560320" cy="1828800"/>
          </a:xfrm>
          <a:prstGeom prst="roundRect">
            <a:avLst>
              <a:gd name="adj" fmla="val 6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91840" y="18288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6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دولة حول العالم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2560320" cy="1828800"/>
          </a:xfrm>
          <a:prstGeom prst="roundRect">
            <a:avLst>
              <a:gd name="adj" fmla="val 6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18288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6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جامعة مصرية مشاركة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فرصة لمعهدنا للانضمام لهذه المنافسة وإثبات التزامه بالاستدامة.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أهداف السنة الأولى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720840" y="1371600"/>
            <a:ext cx="1965960" cy="2377440"/>
          </a:xfrm>
          <a:prstGeom prst="roundRect">
            <a:avLst>
              <a:gd name="adj" fmla="val 5581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720840" y="15544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5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26974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خفض النفايات المتجهة للمقالب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17720" y="1371600"/>
            <a:ext cx="1965960" cy="2377440"/>
          </a:xfrm>
          <a:prstGeom prst="roundRect">
            <a:avLst>
              <a:gd name="adj" fmla="val 5581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7720" y="15544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5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4754880" y="26974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خفض استهلاك الورق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514600" y="1371600"/>
            <a:ext cx="1965960" cy="2377440"/>
          </a:xfrm>
          <a:prstGeom prst="roundRect">
            <a:avLst>
              <a:gd name="adj" fmla="val 5581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14600" y="15544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5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50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6974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إضاءة LED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5581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" y="155448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5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6974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فعاليات توعوية على الأقل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ويكتمل بملف أدلة جاهز لمحاور GreenMetric الستة.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هيكل الأسرة ولجانها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5A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المشرفة + رئيس + نائب + أمين سر + أمين صندوق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720840" y="164592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1228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النفايات والتدوير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12280" y="23317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فرز وقياس وشراكات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17720" y="164592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0916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الطاقة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709160" y="23317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تدقيق وترشيد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514600" y="164592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0604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المياه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23317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رصد تسريبات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164592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182880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المواصلات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3317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مشاركة ودراجات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20840" y="320040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33832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المساحات الخضراء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38862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زراعة وكومبوست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617720" y="320040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9160" y="33832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الإعلام والتوثيق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709160" y="38862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أدلة وصور وصفحة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514600" y="320040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06040" y="33832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البحث والتعليم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2606040" y="388620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مشروعات تخرج وورش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ماذا يفعل الطلبة؟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035040" y="132588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217920" y="1508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يقيسون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20574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وزن النفايات وفواتير الكهرباء والمياه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46120" y="132588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508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يفرزون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0574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حاويات للورق والبلاستيك والمعادن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32588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15087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يبتكرون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0574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مشروعات تخرج: طاقة شمسية وتحكم ذكي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301752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3200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يوعّون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37490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حملات وورش ومسابقة ابتكار أخضر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46120" y="301752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3200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يوثّقون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7490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صور ومحاضر وتقارير لملف الأدلة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2651760" cy="1508760"/>
          </a:xfrm>
          <a:prstGeom prst="roundRect">
            <a:avLst>
              <a:gd name="adj" fmla="val 7273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" y="32004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يتابعون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74904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لوحة مؤشرات شهرية للنتائج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F5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أكبر تحدٍّ: النفايات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720840" y="1463040"/>
            <a:ext cx="1965960" cy="2651760"/>
          </a:xfrm>
          <a:prstGeom prst="roundRect">
            <a:avLst>
              <a:gd name="adj" fmla="val 5581"/>
            </a:avLst>
          </a:prstGeom>
          <a:solidFill>
            <a:srgbClr val="143D27"/>
          </a:solidFill>
          <a:ln w="12700">
            <a:solidFill>
              <a:srgbClr val="143D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29500" y="1645920"/>
            <a:ext cx="548640" cy="54864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295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143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12280" y="2377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قياس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858000" y="292608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CF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وزن أسبوع كامل لكل مبنى وورشة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17720" y="1463040"/>
            <a:ext cx="1965960" cy="2651760"/>
          </a:xfrm>
          <a:prstGeom prst="roundRect">
            <a:avLst>
              <a:gd name="adj" fmla="val 5581"/>
            </a:avLst>
          </a:prstGeom>
          <a:solidFill>
            <a:srgbClr val="143D27"/>
          </a:solidFill>
          <a:ln w="12700">
            <a:solidFill>
              <a:srgbClr val="143D2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26380" y="1645920"/>
            <a:ext cx="548640" cy="54864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638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143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377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فرز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292608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CF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من المصدر: 3 حاويات ملونة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14600" y="1463040"/>
            <a:ext cx="1965960" cy="2651760"/>
          </a:xfrm>
          <a:prstGeom prst="roundRect">
            <a:avLst>
              <a:gd name="adj" fmla="val 5581"/>
            </a:avLst>
          </a:prstGeom>
          <a:solidFill>
            <a:srgbClr val="143D27"/>
          </a:solidFill>
          <a:ln w="12700">
            <a:solidFill>
              <a:srgbClr val="143D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260" y="1645920"/>
            <a:ext cx="548640" cy="54864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2326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143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2606040" y="2377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تدوير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292608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CF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بروتوكول مع جهة معتمدة للخردة والإلكترونيات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11480" y="1463040"/>
            <a:ext cx="1965960" cy="2651760"/>
          </a:xfrm>
          <a:prstGeom prst="roundRect">
            <a:avLst>
              <a:gd name="adj" fmla="val 5581"/>
            </a:avLst>
          </a:prstGeom>
          <a:solidFill>
            <a:srgbClr val="143D27"/>
          </a:solidFill>
          <a:ln w="12700">
            <a:solidFill>
              <a:srgbClr val="143D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20140" y="1645920"/>
            <a:ext cx="548640" cy="54864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D9A4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201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143D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23774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متابعة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292608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CFE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مسؤول لكل مبنى وتقرير شهري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خصوصية الهندسة: خردة الورش، والزيوت، والكابلات، وبقايا الطباعة ثلاثية الأبعاد.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خطة 12 شهرًا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920240"/>
            <a:ext cx="7863840" cy="0"/>
          </a:xfrm>
          <a:prstGeom prst="line">
            <a:avLst/>
          </a:prstGeom>
          <a:noFill/>
          <a:ln w="38100">
            <a:solidFill>
              <a:srgbClr val="D9A4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589520" y="1783080"/>
            <a:ext cx="274320" cy="274320"/>
          </a:xfrm>
          <a:prstGeom prst="ellipse">
            <a:avLst/>
          </a:prstGeom>
          <a:solidFill>
            <a:srgbClr val="1F5C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0" y="1280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5A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الشهر 1–3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766560" y="233172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0" y="2468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التأسيس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876288" y="301752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اللجان وخط الأساس وحاويات الفرز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0" y="1783080"/>
            <a:ext cx="274320" cy="274320"/>
          </a:xfrm>
          <a:prstGeom prst="ellipse">
            <a:avLst/>
          </a:prstGeom>
          <a:solidFill>
            <a:srgbClr val="1F5C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280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5A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الشهر 4–6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2468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التنفيذ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773168" y="301752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تدقيق الطاقة، LED، ترشيد المياه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383280" y="1783080"/>
            <a:ext cx="274320" cy="274320"/>
          </a:xfrm>
          <a:prstGeom prst="ellipse">
            <a:avLst/>
          </a:prstGeom>
          <a:solidFill>
            <a:srgbClr val="1F5C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60320" y="1280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5A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الشهر 7–9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560320" y="233172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51760" y="2468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التوسع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2670048" y="301752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الورش والمعامل، بروتوكول التدوير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280160" y="1783080"/>
            <a:ext cx="274320" cy="274320"/>
          </a:xfrm>
          <a:prstGeom prst="ellipse">
            <a:avLst/>
          </a:prstGeom>
          <a:solidFill>
            <a:srgbClr val="1F5C3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" y="1280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rgbClr val="5A6B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الشهر 10–12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233172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E8F3EC"/>
          </a:solidFill>
          <a:ln w="12700">
            <a:solidFill>
              <a:srgbClr val="E8F3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4688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rgbClr val="1F5C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الأدلة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301752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2333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ملف GreenMetric وتقرير سنوي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5C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المطلوب منكم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43D27"/>
          </a:solidFill>
          <a:ln w="12700">
            <a:solidFill>
              <a:srgbClr val="143D2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7160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موافقة العميد على تأسيس الأسرة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938528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43D27"/>
          </a:solidFill>
          <a:ln w="12700">
            <a:solidFill>
              <a:srgbClr val="143D2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9385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دعم اتحاد الطلبة وفتح باب العضوية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505456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43D27"/>
          </a:solidFill>
          <a:ln w="12700">
            <a:solidFill>
              <a:srgbClr val="143D2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0545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التنسيق مع الصيانة والنظافة والمشتريات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072384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43D27"/>
          </a:solidFill>
          <a:ln w="12700">
            <a:solidFill>
              <a:srgbClr val="143D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07238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تخصيص أماكن لحاويات الفرز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639312"/>
            <a:ext cx="8229600" cy="475488"/>
          </a:xfrm>
          <a:prstGeom prst="roundRect">
            <a:avLst>
              <a:gd name="adj" fmla="val 23077"/>
            </a:avLst>
          </a:prstGeom>
          <a:solidFill>
            <a:srgbClr val="143D27"/>
          </a:solidFill>
          <a:ln w="12700">
            <a:solidFill>
              <a:srgbClr val="143D2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63931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تعيين منسق للمعهد للتواصل مع UI GreenMetric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343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دور المشرفة: الاعتماد والتوجيه العلمي ومراجعة جودة الأدلة وتدريب الدفعات الجديدة.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2026-10-07T22:41:54Z</dcterms:created>
  <dcterms:modified xsi:type="dcterms:W3CDTF">2026-10-07T22:41:54Z</dcterms:modified>
</cp:coreProperties>
</file>